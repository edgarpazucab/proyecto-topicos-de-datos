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ZIgRK21lPeoLhjGh/0lco1BVF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del equipo y del encargo (30 s). Mensaje: venimos a explicar qué está pasando con el margen de RetailVenture, por qué y qué hacer.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Planteamos las tres premisas tal como las recibimos. Antes de buscar causas, verificamos si eran ciertas con los datos (A1 garantizó que los datos eran confiables: 0 claves duplicadas, 0 registros huérfanos, 26 reglas de consistencia verificadas).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ticket solo baja 1,9 % y las devoluciones son altas pero estables desde 2023, no subieron en el último trimestre. La conversión sí cae a la mitad (11,2 % → 6,9 % anual; 11,3 % → 5,6 % de trimestre a trimestre). Las ventas totales son planas en ~$725K por mes, sin estacionalidad. Conclusión: el problema no es que se venda menos, sino cuánto margen queda de lo que se vende.</a:t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categoría que más vende es la que menos margen deja: bajo margen de origen (13,7 % bruto) más muchas devoluciones caras. Hogar, Deportes y Belleza dejan más margen del que pesan en ventas. Si preguntan por canal: online descuenta el doble que la tienda (7,5 % vs. 3,7 %) y por eso tiene 3,2 puntos menos de margen con la misma mezcla de productos.</a:t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0 % o con más de 20 % de descuento se venden las mismas 1,78 unidades por transacción. Lo comprobamos con 4 pruebas distintas, incluida una regresión con efectos fijos de producto y cliente. Por encima del 20 %, Electrónica vende a pérdida en promedio. Pregunta probable: ¿correlación o causa? Los efectos fijos comparan el mismo producto y el mismo cliente con y sin descuento, lo que descarta las diferencias de mezcla.</a:t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Manda la categoría, no el producto, el canal ni el cliente: cada punto del gráfico es un producto y todos se agrupan alrededor de la tasa de su categoría. No hay clientes abusando de las devoluciones: la cantidad de clientes con varias devoluciones es la que se espera por azar (simulación de 500 escenarios). Por eso la solución no es castigar clientes, sino actuar sobre las categorías.</a:t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todas las devoluciones cuestan lo mismo. Si el producto vuelve en buen estado, se recupera su costo; si es defectuoso, se pierde completo. En Electrónica eso son productos caros: 408 devoluciones defectuosas costaron $392K. Esto apunta a un problema de calidad del proveedor, no del cliente.</a:t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Definimos el churn con la métrica PI6 (probabilidad de no comprar en 6 meses), elegida entre 4 candidatas por backtest. La recencia no predice la fuga porque los clientes compran a un ritmo constante. Premium y Frecuente son el 80,5 % del valor de la cartera (CLV de $1.670 y $840) y son leales. La fuga real está en clientes de 1–2 compras. Quejas: reducen el gasto ~10 % pero no la frecuencia, y las consultas caen igual, así que el efecto es de contactar, no de la queja.</a:t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y canal de campaña no cambian la conversión (p = 0,58 y 0,75); lo que la decide es el segmento (Premium 13,7 % vs. Inactivo 5,5 %). El descuento se asignó como al azar (prueba de balance), por eso su efecto se puede leer como causal: +1,3 pp de conversión por cada +5 pp de descuento. Pero el 53 % de los convertidos habría comprado igual, así que el descuento solo crea margen hasta el 10 %. Inactivo recibe el 14 % de los envíos y no convierte por baja intención, no por quejas ni devoluciones.</a:t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es el cierre del nudo: la gerencia creía que el problema era la pérdida de clientes, pero el churn y las quejas suman apenas $11K. El margen se va por qué vendemos y cómo lo vendemos. La proyección es razonable porque ventas, devoluciones y descuentos fueron estables 24 meses.</a:t>
            </a:r>
            <a:endParaRPr/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tres montos no se solapan: R1 actúa sobre ventas no devueltas, R2 sobre ventas devueltas y R3 sobre campañas. Supuestos para la defensa: R1 supone que el volumen no cae (A2 no encontró efecto del descuento en el volumen) y sigue conviniendo aunque las ventas afectadas perdieran hasta 33 % de su volumen. R2 es un escenario: con 15 % de reducción serían $18,8K y con 50 % $62,7K. R3 viene del modelo causal de A4.</a:t>
            </a:r>
            <a:endParaRPr/>
          </a:p>
        </p:txBody>
      </p:sp>
      <p:sp>
        <p:nvSpPr>
          <p:cNvPr id="193" name="Google Shape;19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Prioridad por impacto y dificultad: R1 tiene el mayor monto y solo requiere cambiar una política; R2 es la fuga más grande pero requiere trabajo con proveedores; R3 es pequeña en dinero pero corrige el síntoma de marketing que motivó el encargo. La prueba A/B responde a la limitación principal: los análisis de descuentos son observacionales.</a:t>
            </a:r>
            <a:endParaRPr/>
          </a:p>
        </p:txBody>
      </p:sp>
      <p:sp>
        <p:nvSpPr>
          <p:cNvPr id="209" name="Google Shape;20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Cerrar con la frase del relato y abrir a preguntas. Recordar que todos los montos son reproducibles en los notebooks 01–05.</a:t>
            </a:r>
            <a:endParaRPr/>
          </a:p>
        </p:txBody>
      </p:sp>
      <p:sp>
        <p:nvSpPr>
          <p:cNvPr id="227" name="Google Shape;22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chemeClr val="dk2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5"/>
          <p:cNvSpPr txBox="1"/>
          <p:nvPr>
            <p:ph type="title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  <a:defRPr b="1" i="0" sz="4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5"/>
          <p:cNvSpPr txBox="1"/>
          <p:nvPr>
            <p:ph idx="1" type="body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6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  <a:defRPr b="1" i="0" sz="2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RetailVenture C.A. · Proyecto 01 Retail Intelligence · Equipo 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bg>
      <p:bgPr>
        <a:solidFill>
          <a:schemeClr val="dk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title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idx="12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 txBox="1"/>
          <p:nvPr>
            <p:ph type="title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Dónde se pierde el margen de RetailVenture</a:t>
            </a:r>
            <a:endParaRPr sz="4400"/>
          </a:p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</a:pPr>
            <a:r>
              <a:rPr lang="en-US" sz="2000">
                <a:solidFill>
                  <a:schemeClr val="lt2"/>
                </a:solidFill>
              </a:rPr>
              <a:t>Storytelling con datos para maximizar la rentabilidad y prevenir fugas de ingresos</a:t>
            </a:r>
            <a:endParaRPr sz="2000"/>
          </a:p>
        </p:txBody>
      </p:sp>
      <p:sp>
        <p:nvSpPr>
          <p:cNvPr id="24" name="Google Shape;24;p1"/>
          <p:cNvSpPr txBox="1"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Equipo 5: </a:t>
            </a: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Javier Delmoral · Daniel Verschuur · Valeria León · Edgar Paz · Gilberto Moncada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Tópicos Especiales para la Gestión de Datos · Prof. Armen Djenanian · UCAB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INICIO · EL ENCARGO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La gerencia nos pidió explicar tres síntomas</a:t>
            </a:r>
            <a:endParaRPr sz="2800"/>
          </a:p>
        </p:txBody>
      </p:sp>
      <p:sp>
        <p:nvSpPr>
          <p:cNvPr id="32" name="Google Shape;32;p2"/>
          <p:cNvSpPr/>
          <p:nvPr/>
        </p:nvSpPr>
        <p:spPr>
          <a:xfrm>
            <a:off x="548640" y="1920240"/>
            <a:ext cx="3502152" cy="2194560"/>
          </a:xfrm>
          <a:prstGeom prst="roundRect">
            <a:avLst>
              <a:gd fmla="val 41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822960" y="2148840"/>
            <a:ext cx="295351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−8 %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822960" y="3200400"/>
            <a:ext cx="29535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Caída interanual del ticket promedio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325112" y="1920240"/>
            <a:ext cx="3502152" cy="2194560"/>
          </a:xfrm>
          <a:prstGeom prst="roundRect">
            <a:avLst>
              <a:gd fmla="val 41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4599432" y="2148840"/>
            <a:ext cx="295351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14 %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4599432" y="3200400"/>
            <a:ext cx="29535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Tasa de devoluciones en el último trimestre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101584" y="1920240"/>
            <a:ext cx="3502152" cy="2194560"/>
          </a:xfrm>
          <a:prstGeom prst="roundRect">
            <a:avLst>
              <a:gd fmla="val 41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8375904" y="2148840"/>
            <a:ext cx="295351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22 → 11 %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8375904" y="3200400"/>
            <a:ext cx="29535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Conversión de campañas en 18 meses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548640" y="4480560"/>
            <a:ext cx="11064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 pregunta: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está ocurriendo, por qué ocurre y qué acciones concretas deben tomarse?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Analizamos 24 meses de operación: 50.000 transacciones, 8.000 clientes, 318 productos, 6.724 devoluciones, 4.684 contactos de CRM y 8.820 envíos de campañas.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INICIO · LO QUE DICEN LOS DATOS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Solo un síntoma se confirma: la conversión cayó a la mitad</a:t>
            </a:r>
            <a:endParaRPr sz="2800"/>
          </a:p>
        </p:txBody>
      </p:sp>
      <p:pic>
        <p:nvPicPr>
          <p:cNvPr descr="Ticket promedio, tasa de devolución mensual y conversión trimestral de campañas, 2023-2024" id="50" name="Google Shape;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691640"/>
            <a:ext cx="10058400" cy="302963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54864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 txBox="1"/>
          <p:nvPr/>
        </p:nvSpPr>
        <p:spPr>
          <a:xfrm>
            <a:off x="77724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−1,9 %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77724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2024 vs. 2023, no −8 %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32816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 txBox="1"/>
          <p:nvPr/>
        </p:nvSpPr>
        <p:spPr>
          <a:xfrm>
            <a:off x="455676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13,4 %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455676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Devoluciones estables los 24 meses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10768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 txBox="1"/>
          <p:nvPr/>
        </p:nvSpPr>
        <p:spPr>
          <a:xfrm>
            <a:off x="833628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11,2 → 6,9 %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833628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Conversión 2023 → 2024 (5,6 % en el 4T)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NUDO · QUÉ SE VENDE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Electrónica es el 44 % de las ventas pero solo el 16 % del margen</a:t>
            </a:r>
            <a:endParaRPr sz="2800"/>
          </a:p>
        </p:txBody>
      </p:sp>
      <p:pic>
        <p:nvPicPr>
          <p:cNvPr descr="Participación por categoría en ventas, margen bruto y margen neto" id="68" name="Google Shape;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83080"/>
            <a:ext cx="6949440" cy="333626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7863840" y="1783080"/>
            <a:ext cx="374904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8092440" y="18745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6,3 %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8092440" y="23317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Margen neto de Electrónica, vs. 25–35 % del resto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863840" y="3063240"/>
            <a:ext cx="374904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8092440" y="31546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17,7 %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8092440" y="36118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sus ventas se devuelven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863840" y="4343400"/>
            <a:ext cx="374904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8092440" y="44348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36 %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8092440" y="4892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margen neto lo aporta Hogar y Deco con el 26 % de las ventas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Fuente: notebook 02 (A2), contribución al margen por categoría. Margen neto = margen bruto − devuelto + costo recuperado.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NUDO · CÓMO SE VENDE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Los descuentos no traen más ventas: solo regalan margen</a:t>
            </a:r>
            <a:endParaRPr sz="2800"/>
          </a:p>
        </p:txBody>
      </p:sp>
      <p:pic>
        <p:nvPicPr>
          <p:cNvPr descr="Unidades y margen por transacción según tramo de descuento, y margen por categoría"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691640"/>
            <a:ext cx="10058400" cy="332729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54864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77724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$968K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77724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Descontados en 24 meses: 22,5 % del margen bruto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32816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455676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+0,2 %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455676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Efecto del descuento en el volumen (no significativo)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10768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833628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711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833628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Ventas bajo costo; 633 son de Electrónica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NUDO · QUÉ SE DEVUELVE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Ropa y Electrónica duplican la tasa de devolución del resto</a:t>
            </a:r>
            <a:endParaRPr sz="2800"/>
          </a:p>
        </p:txBody>
      </p:sp>
      <p:pic>
        <p:nvPicPr>
          <p:cNvPr descr="Tasa de devolución por producto agrupada por categoría y motivos por categoría" id="105" name="Google Shape;1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691640"/>
            <a:ext cx="10058400" cy="291971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54864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 txBox="1"/>
          <p:nvPr/>
        </p:nvSpPr>
        <p:spPr>
          <a:xfrm>
            <a:off x="77724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21,8 %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77724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Tasa de devolución de Ropa y Calzado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32816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455676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17,7 %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455676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Tasa de devolución de Electrónica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10768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833628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833628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Devolvedores seriales (vs. 500 simulaciones al azar)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NUDO · POR QUÉ CUESTA TANTO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Un tercio de lo perdido en devoluciones es Electrónica defectuosa</a:t>
            </a:r>
            <a:endParaRPr sz="2800"/>
          </a:p>
        </p:txBody>
      </p:sp>
      <p:pic>
        <p:nvPicPr>
          <p:cNvPr descr="Margen perdido en 24 meses por categoría y motivo de devolución"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83080"/>
            <a:ext cx="7315200" cy="3014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8229600" y="1783080"/>
            <a:ext cx="338328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8458200" y="18745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$392K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8458200" y="233172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Perdidos por Electrónica defectuosa en 24 meses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229600" y="3063240"/>
            <a:ext cx="338328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8458200" y="31546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33 %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8458200" y="36118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todo el margen perdido por devoluciones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229600" y="4343400"/>
            <a:ext cx="338328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8458200" y="44348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$23K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8458200" y="48920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talla incorrecta, solo en Ropa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Fuente: notebook 05 (A5). Un producto defectuoso se reembolsa completo y no vuelve al inventario (supuesto de A1).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NUDO · ¿SE VAN LOS CLIENTES?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Los clientes de alto valor no se están yendo</a:t>
            </a:r>
            <a:endParaRPr sz="2800"/>
          </a:p>
        </p:txBody>
      </p:sp>
      <p:pic>
        <p:nvPicPr>
          <p:cNvPr descr="Capacidad predictiva de métricas de inactividad e ingreso en riesgo por segmento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691640"/>
            <a:ext cx="10058400" cy="330542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54864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77724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7724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 Premium o Frecuentes en riesgo de fuga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32816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455676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$36K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455676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Fuga estructural en 6 meses (1 % de las ventas)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10768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833628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61 %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833628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los clientes Nuevos nunca repite compra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NUDO · MARKETING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En campañas, el descuento por encima del 10 % destruye margen</a:t>
            </a:r>
            <a:endParaRPr sz="2800"/>
          </a:p>
        </p:txBody>
      </p:sp>
      <p:pic>
        <p:nvPicPr>
          <p:cNvPr descr="ROI por tipo de campaña y margen incremental según descuento ofrecido"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691640"/>
            <a:ext cx="10058400" cy="3403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54864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77724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≈1x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7724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ROI contable sobre margen: parece rentable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32816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455676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−0,16x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455676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ROI incremental: lo que el descuento realmente causa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107680" y="5230368"/>
            <a:ext cx="350520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8336280" y="530352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53 %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8336280" y="5779008"/>
            <a:ext cx="304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los convertidos habría comprado sin descuento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NUDO · SÍNTESIS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El 98 % de los $554K en riesgo viene de devoluciones y descuentos</a:t>
            </a:r>
            <a:endParaRPr sz="2800"/>
          </a:p>
        </p:txBody>
      </p:sp>
      <p:pic>
        <p:nvPicPr>
          <p:cNvPr descr="Margen perdido proyectado a 6 meses por tipo de fuga"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83080"/>
            <a:ext cx="7315200" cy="279312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/>
          <p:nvPr/>
        </p:nvSpPr>
        <p:spPr>
          <a:xfrm>
            <a:off x="8229600" y="1783080"/>
            <a:ext cx="338328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 txBox="1"/>
          <p:nvPr/>
        </p:nvSpPr>
        <p:spPr>
          <a:xfrm>
            <a:off x="8458200" y="18745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$554K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8458200" y="233172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Margen en riesgo en 6 meses (71 % del margen neto)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8229600" y="3063240"/>
            <a:ext cx="338328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8458200" y="31546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98 %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8458200" y="36118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devoluciones ($300K) y descuentos ($243K)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8229600" y="4343400"/>
            <a:ext cx="3383280" cy="1051560"/>
          </a:xfrm>
          <a:prstGeom prst="roundRect">
            <a:avLst>
              <a:gd fmla="val 69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8458200" y="44348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$153K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8458200" y="48920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 identificados como evitables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Fuente: notebook 03 (A3). Proyección suponiendo que nada cambia; los componentes pueden solaparse, por lo que el total es una cota superior.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DESENLACE · RECOMENDACIONES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Tres decisiones recuperan ≈ $88K de margen por semestre</a:t>
            </a:r>
            <a:endParaRPr sz="2800"/>
          </a:p>
        </p:txBody>
      </p:sp>
      <p:pic>
        <p:nvPicPr>
          <p:cNvPr descr="Margen recuperado en 6 meses por cada recomendación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83080"/>
            <a:ext cx="6400800" cy="276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/>
          <p:nvPr/>
        </p:nvSpPr>
        <p:spPr>
          <a:xfrm>
            <a:off x="7269480" y="1874520"/>
            <a:ext cx="548640" cy="54864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8001000" y="1783080"/>
            <a:ext cx="3611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topamos el descuento en 10 %, esperamos +6,1 % de margen neto, ≈ $48K por semestre.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7269480" y="324612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8001000" y="3154680"/>
            <a:ext cx="3611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reducimos 30 % las devoluciones por defecto en Electrónica y por defecto o talla en Ropa, esperamos +4,8 % de margen neto, ≈ $38K por semestre.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7269480" y="461772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8001000" y="4526280"/>
            <a:ext cx="3611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topamos el descuento de campañas en 10 % y sacamos a los Inactivos del envío masivo, esperamos +34 % de margen de campañas, ≈ $2,8K por semestre.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Fuente: notebook 05 (A5). Total: +$88K por semestre, +11 % del margen neto (≈ $781K por semestre).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/>
          <p:nvPr/>
        </p:nvSpPr>
        <p:spPr>
          <a:xfrm>
            <a:off x="548640" y="347472"/>
            <a:ext cx="3840480" cy="310896"/>
          </a:xfrm>
          <a:prstGeom prst="roundRect">
            <a:avLst>
              <a:gd fmla="val 4705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DESENLACE · CÓMO IMPLEMENTARLO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 txBox="1"/>
          <p:nvPr>
            <p:ph type="title"/>
          </p:nvPr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Empezar por la política de descuentos y validar con una prueba A/B</a:t>
            </a:r>
            <a:endParaRPr sz="2800"/>
          </a:p>
        </p:txBody>
      </p:sp>
      <p:sp>
        <p:nvSpPr>
          <p:cNvPr id="213" name="Google Shape;213;p12"/>
          <p:cNvSpPr/>
          <p:nvPr/>
        </p:nvSpPr>
        <p:spPr>
          <a:xfrm>
            <a:off x="548640" y="1783080"/>
            <a:ext cx="3502152" cy="3108960"/>
          </a:xfrm>
          <a:prstGeom prst="roundRect">
            <a:avLst>
              <a:gd fmla="val 294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548640" y="1783080"/>
            <a:ext cx="3502152" cy="54864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R1 · Tope de descuento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777240" y="25146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Cuándo: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Quién: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Gerencia comercial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Qué: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Topar en 10 % por venta, empezando por online y Electrónica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Cómo se mide: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Descuento promedio y margen neto por canal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325112" y="1783080"/>
            <a:ext cx="3502152" cy="3108960"/>
          </a:xfrm>
          <a:prstGeom prst="roundRect">
            <a:avLst>
              <a:gd fmla="val 294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4325112" y="1783080"/>
            <a:ext cx="3502152" cy="54864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R2 · Calidad y tallas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4553712" y="25146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Cuándo: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Meses 1–3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Quién: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Compras y calidad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Qué: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Auditar proveedores de Electrónica y exigir reposición; guía de tallas en Ropa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Cómo se mide: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Devoluciones por defecto y por talla (meta −30 %)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8101584" y="1783080"/>
            <a:ext cx="3502152" cy="3108960"/>
          </a:xfrm>
          <a:prstGeom prst="roundRect">
            <a:avLst>
              <a:gd fmla="val 294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8101584" y="1783080"/>
            <a:ext cx="3502152" cy="54864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R3 · Campañas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8330184" y="25146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Cuándo: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Próximo ciclo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Quién: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Qué: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Tope de 10 % y reasignar los envíos de Inactivos a Premium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Cómo se mide: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Margen de campañas y conversión verificada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fmla="val 941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Validación antes de escalar: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“testing”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R1 en el canal online durante 4 semanas (tope de 10 % vs. política actual), vigilando unidades por transacción y margen neto.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/>
          <p:nvPr>
            <p:ph type="title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El problema no es que se vayan los clientes</a:t>
            </a:r>
            <a:endParaRPr sz="3200"/>
          </a:p>
        </p:txBody>
      </p:sp>
      <p:sp>
        <p:nvSpPr>
          <p:cNvPr id="230" name="Google Shape;230;p13"/>
          <p:cNvSpPr txBox="1"/>
          <p:nvPr/>
        </p:nvSpPr>
        <p:spPr>
          <a:xfrm>
            <a:off x="731520" y="160020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Calibri"/>
              <a:buNone/>
            </a:pPr>
            <a:r>
              <a:rPr i="1" lang="en-US" sz="2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Es qué vendemos, cómo lo vendemos y lo que nos devuelven.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731520" y="301752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mbria"/>
              <a:buNone/>
            </a:pPr>
            <a:r>
              <a:rPr b="1" lang="en-US" sz="5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$554K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731520" y="411480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de margen en riesgo en 6 meses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4389120" y="301752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mbria"/>
              <a:buNone/>
            </a:pPr>
            <a:r>
              <a:rPr b="1" lang="en-US" sz="5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98 %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4389120" y="411480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por devoluciones y descuentos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8046720" y="301752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Font typeface="Cambria"/>
              <a:buNone/>
            </a:pPr>
            <a:r>
              <a:rPr b="1" lang="en-US" sz="5400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+$88K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 txBox="1"/>
          <p:nvPr/>
        </p:nvSpPr>
        <p:spPr>
          <a:xfrm>
            <a:off x="8046720" y="411480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recuperables por semestre con 3 decisiones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Gracias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ail Intelligence">
  <a:themeElements>
    <a:clrScheme name="Retail Intelligence">
      <a:dk1>
        <a:srgbClr val="1B1F27"/>
      </a:dk1>
      <a:lt1>
        <a:srgbClr val="FFFFFF"/>
      </a:lt1>
      <a:dk2>
        <a:srgbClr val="1F2A44"/>
      </a:dk2>
      <a:lt2>
        <a:srgbClr val="EEF1F6"/>
      </a:lt2>
      <a:accent1>
        <a:srgbClr val="C44E52"/>
      </a:accent1>
      <a:accent2>
        <a:srgbClr val="4C72B0"/>
      </a:accent2>
      <a:accent3>
        <a:srgbClr val="55A868"/>
      </a:accent3>
      <a:accent4>
        <a:srgbClr val="B0B5C0"/>
      </a:accent4>
      <a:accent5>
        <a:srgbClr val="2C3E50"/>
      </a:accent5>
      <a:accent6>
        <a:srgbClr val="D9A441"/>
      </a:accent6>
      <a:hlink>
        <a:srgbClr val="4C72B0"/>
      </a:hlink>
      <a:folHlink>
        <a:srgbClr val="2C3E5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2026-10-25T19:36:36Z</dcterms:created>
  <dc:creator>Equipo 5</dc:creator>
</cp:coreProperties>
</file>